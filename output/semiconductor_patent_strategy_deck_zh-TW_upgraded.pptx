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33"/>
                </a:solidFill>
                <a:latin typeface="Aptos"/>
              </a:defRPr>
            </a:pPr>
            <a:r>
              <a:rPr sz="1200" b="0" i="0" u="none" strike="noStrike">
                <a:solidFill>
                  <a:srgbClr val="122033"/>
                </a:solidFill>
                <a:latin typeface="Aptos"/>
              </a:rPr>
              <a:t>chiplet 與 hybrid bonding 的加速上升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chiplet</c:v>
                </c:pt>
              </c:strCache>
            </c:strRef>
          </c:tx>
          <c:spPr>
            <a:solidFill>
              <a:srgbClr val="0F8B8D"/>
            </a:solidFill>
            <a:ln w="38100" cap="flat">
              <a:solidFill>
                <a:srgbClr val="0F8B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03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2021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1410</c:v>
                </c:pt>
                <c:pt idx="1">
                  <c:v>8964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hybrid bonding</c:v>
                </c:pt>
              </c:strCache>
            </c:strRef>
          </c:tx>
          <c:spPr>
            <a:solidFill>
              <a:srgbClr val="74D3D4"/>
            </a:solidFill>
            <a:ln w="38100" cap="flat">
              <a:solidFill>
                <a:srgbClr val="74D3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03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4D3D4"/>
              </a:solidFill>
              <a:ln w="9525" cap="flat">
                <a:solidFill>
                  <a:srgbClr val="74D3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2021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2902</c:v>
                </c:pt>
                <c:pt idx="1">
                  <c:v>8839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203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8E1E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D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7620" cap="flat">
              <a:solidFill>
                <a:srgbClr val="D8E1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D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33"/>
                </a:solidFill>
                <a:latin typeface="Aptos"/>
              </a:defRPr>
            </a:pPr>
            <a:r>
              <a:rPr sz="1200" b="0" i="0" u="none" strike="noStrike">
                <a:solidFill>
                  <a:srgbClr val="122033"/>
                </a:solidFill>
                <a:latin typeface="Aptos"/>
              </a:rPr>
              <a:t>HBM 年度成長（2021 → 2025）</a:t>
            </a:r>
          </a:p>
        </c:rich>
      </c:tx>
      <c:layout/>
      <c:overlay val="0"/>
    </c:title>
    <c:autoTitleDeleted val="0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HBM</c:v>
                </c:pt>
              </c:strCache>
            </c:strRef>
          </c:tx>
          <c:spPr>
            <a:solidFill>
              <a:srgbClr val="3C78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2021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10025</c:v>
                </c:pt>
                <c:pt idx="1">
                  <c:v>27205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220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8E1E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D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7620" cap="flat">
              <a:solidFill>
                <a:srgbClr val="D8E1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D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33"/>
                </a:solidFill>
                <a:latin typeface="Aptos"/>
              </a:defRPr>
            </a:pPr>
            <a:r>
              <a:rPr sz="1200" b="0" i="0" u="none" strike="noStrike">
                <a:solidFill>
                  <a:srgbClr val="122033"/>
                </a:solidFill>
                <a:latin typeface="Aptos"/>
              </a:rPr>
              <a:t>EUV：高基數下仍持續成長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EUV</c:v>
                </c:pt>
              </c:strCache>
            </c:strRef>
          </c:tx>
          <c:spPr>
            <a:solidFill>
              <a:srgbClr val="D96C75"/>
            </a:solidFill>
            <a:ln w="50800" cap="flat">
              <a:solidFill>
                <a:srgbClr val="D96C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6C75"/>
              </a:solidFill>
              <a:ln w="9525" cap="flat">
                <a:solidFill>
                  <a:srgbClr val="D96C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2021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23146</c:v>
                </c:pt>
                <c:pt idx="1">
                  <c:v>30707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220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8E1E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D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7620" cap="flat">
              <a:solidFill>
                <a:srgbClr val="D8E1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D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32B45"/>
          </a:solidFill>
          <a:ln w="12700">
            <a:solidFill>
              <a:srgbClr val="132B4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0"/>
            <a:ext cx="9144000" cy="868680"/>
          </a:xfrm>
          <a:prstGeom prst="rect">
            <a:avLst/>
          </a:prstGeom>
          <a:solidFill>
            <a:srgbClr val="0F8B8D">
              <a:alpha val="35000"/>
            </a:srgbClr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E5B8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2021–2025 全球廣義半導體專利：技術與管理意涵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DEA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技術競爭主軸已從單點製程，轉向「封裝 × 系統 × 製造整合」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4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基於既有分析報告整理｜用途：高階主管／技術策略／研發管理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322576"/>
            <a:ext cx="4617720" cy="135331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sz="1550" b="0">
                <a:solidFill>
                  <a:srgbClr val="E8ECF3"/>
                </a:solidFill>
              </a:rPr>
              <a:t>最穩定領先群：TSMC、Intel、Samsung</a:t>
            </a:r>
            <a:endParaRPr lang="en-US" sz="1300" dirty="0"/>
          </a:p>
          <a:p>
            <a:pPr>
              <a:lnSpc>
                <a:spcPct val="108000"/>
              </a:lnSpc>
            </a:pPr>
            <a:r>
              <a:rPr sz="1550" b="0">
                <a:solidFill>
                  <a:srgbClr val="E8ECF3"/>
                </a:solidFill>
              </a:rPr>
              <a:t>第二梯隊：Micron、ASM、Lam、Applied、Adeia、Amkor、ASML / Zeiss</a:t>
            </a:r>
          </a:p>
          <a:p>
            <a:pPr>
              <a:lnSpc>
                <a:spcPct val="108000"/>
              </a:lnSpc>
            </a:pPr>
            <a:r>
              <a:rPr sz="1550" b="0">
                <a:solidFill>
                  <a:srgbClr val="E8ECF3"/>
                </a:solidFill>
              </a:rPr>
              <a:t>高成長主題：chiplet、hybrid bonding、backside power、HBM、EUV</a:t>
            </a:r>
          </a:p>
        </p:txBody>
      </p:sp>
      <p:sp>
        <p:nvSpPr>
          <p:cNvPr id="9" name="Shape 7"/>
          <p:cNvSpPr/>
          <p:nvPr/>
        </p:nvSpPr>
        <p:spPr>
          <a:xfrm>
            <a:off x="5897880" y="713232"/>
            <a:ext cx="12984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97880" y="713232"/>
            <a:ext cx="82296" cy="987552"/>
          </a:xfrm>
          <a:prstGeom prst="rect">
            <a:avLst/>
          </a:prstGeom>
          <a:solidFill>
            <a:srgbClr val="16A6A8"/>
          </a:solidFill>
          <a:ln w="12700">
            <a:solidFill>
              <a:srgbClr val="16A6A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62472" y="822960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chiplet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062472" y="97840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6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6.4×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062472" y="1335024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1,410 → 8,964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7315200" y="713232"/>
            <a:ext cx="12984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0" y="713232"/>
            <a:ext cx="82296" cy="987552"/>
          </a:xfrm>
          <a:prstGeom prst="rect">
            <a:avLst/>
          </a:prstGeom>
          <a:solidFill>
            <a:srgbClr val="74D3D4"/>
          </a:solidFill>
          <a:ln w="12700">
            <a:solidFill>
              <a:srgbClr val="74D3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9792" y="822960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7479792" y="97840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4D3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3.0×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79792" y="1335024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2,902 → 8,839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5897880" y="1847088"/>
            <a:ext cx="12984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97880" y="1847088"/>
            <a:ext cx="82296" cy="987552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62472" y="195681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backside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062472" y="2112264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B8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7.3×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062472" y="2468880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556 → 4,055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7315200" y="1847088"/>
            <a:ext cx="12984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0" y="1847088"/>
            <a:ext cx="82296" cy="987552"/>
          </a:xfrm>
          <a:prstGeom prst="rect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9792" y="195681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HBM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479792" y="2112264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C78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2.7×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79792" y="2468880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10,025 → 27,205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5897880" y="2980944"/>
            <a:ext cx="271576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97880" y="2980944"/>
            <a:ext cx="82296" cy="987552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62472" y="3090672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EUV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6062472" y="3246120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6C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1.3×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062472" y="3602736"/>
            <a:ext cx="2478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23,146 → 30,707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5897880" y="4041648"/>
            <a:ext cx="1024128" cy="292608"/>
          </a:xfrm>
          <a:prstGeom prst="roundRect">
            <a:avLst>
              <a:gd name="adj" fmla="val 18750"/>
            </a:avLst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4078224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/ IC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67728" y="4041648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67728" y="407822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73568" y="4041648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16A6A8"/>
          </a:solidFill>
          <a:ln w="12700">
            <a:solidFill>
              <a:srgbClr val="16A6A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73568" y="4078224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97880" y="4389120"/>
            <a:ext cx="1024128" cy="256032"/>
          </a:xfrm>
          <a:prstGeom prst="roundRect">
            <a:avLst>
              <a:gd name="adj" fmla="val 21429"/>
            </a:avLst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442569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67728" y="4389120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8CA7BF"/>
          </a:solidFill>
          <a:ln w="12700">
            <a:solidFill>
              <a:srgbClr val="8CA7B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67728" y="442569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Equipment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973568" y="438912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AFC8D6"/>
          </a:solidFill>
          <a:ln w="12700">
            <a:solidFill>
              <a:srgbClr val="AFC8D6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73568" y="44256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" y="393192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sz="1450">
                <a:solidFill>
                  <a:srgbClr val="DEE6F0"/>
                </a:solidFill>
              </a:rPr>
              <a:t>重點不是單一節點微縮，而是 package / memory / process / equipment 的協同能力。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02920" y="4498848"/>
            <a:ext cx="6446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D2D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方法邊界：Google Patents page；用於相對排序、熱點辨識與策略判讀</a:t>
            </a:r>
            <a:endParaRPr lang="en-US" sz="770" dirty="0"/>
          </a:p>
        </p:txBody>
      </p:sp>
      <p:sp>
        <p:nvSpPr>
          <p:cNvPr id="48" name="Text 46"/>
          <p:cNvSpPr/>
          <p:nvPr/>
        </p:nvSpPr>
        <p:spPr>
          <a:xfrm>
            <a:off x="8165592" y="44439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spc="120" kern="0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LANDSCAPE</a:t>
            </a:r>
            <a:endParaRPr lang="en-US" sz="112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產業鏈雙核心：器件/封裝/IC 與製程/設備同步升級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092440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225296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用關係圖而不是名單看競爭：需求牽引在左、製造供給在右，TSMC 位於少數可跨鏈整合的樞紐。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786384" y="15727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 / 系統側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693408" y="15727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5B8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製造 / 設備側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868680" y="1847088"/>
            <a:ext cx="1078992" cy="402336"/>
          </a:xfrm>
          <a:prstGeom prst="rect">
            <a:avLst/>
          </a:prstGeom>
          <a:solidFill>
            <a:srgbClr val="EAF7F7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847088"/>
            <a:ext cx="82296" cy="402336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975104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68680" y="2395728"/>
            <a:ext cx="1078992" cy="402336"/>
          </a:xfrm>
          <a:prstGeom prst="rect">
            <a:avLst/>
          </a:prstGeom>
          <a:solidFill>
            <a:srgbClr val="EAF7F7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395728"/>
            <a:ext cx="82296" cy="402336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523744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Samsung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68680" y="2944368"/>
            <a:ext cx="1078992" cy="402336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944368"/>
            <a:ext cx="82296" cy="402336"/>
          </a:xfrm>
          <a:prstGeom prst="rect">
            <a:avLst/>
          </a:prstGeom>
          <a:solidFill>
            <a:srgbClr val="74D3D4"/>
          </a:solidFill>
          <a:ln w="12700">
            <a:solidFill>
              <a:srgbClr val="74D3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3072384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Micron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2084832" y="1847088"/>
            <a:ext cx="960120" cy="402336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84832" y="1847088"/>
            <a:ext cx="82296" cy="402336"/>
          </a:xfrm>
          <a:prstGeom prst="rect">
            <a:avLst/>
          </a:prstGeom>
          <a:solidFill>
            <a:srgbClr val="74D3D4"/>
          </a:solidFill>
          <a:ln w="12700">
            <a:solidFill>
              <a:srgbClr val="74D3D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12848" y="197510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Apple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084832" y="2395728"/>
            <a:ext cx="960120" cy="402336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84832" y="2395728"/>
            <a:ext cx="82296" cy="402336"/>
          </a:xfrm>
          <a:prstGeom prst="rect">
            <a:avLst/>
          </a:prstGeom>
          <a:solidFill>
            <a:srgbClr val="74D3D4"/>
          </a:solidFill>
          <a:ln w="12700">
            <a:solidFill>
              <a:srgbClr val="74D3D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12848" y="252374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Adeia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2084832" y="2944368"/>
            <a:ext cx="960120" cy="402336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84832" y="2944368"/>
            <a:ext cx="82296" cy="402336"/>
          </a:xfrm>
          <a:prstGeom prst="rect">
            <a:avLst/>
          </a:prstGeom>
          <a:solidFill>
            <a:srgbClr val="74D3D4"/>
          </a:solidFill>
          <a:ln w="12700">
            <a:solidFill>
              <a:srgbClr val="74D3D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12848" y="307238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Amkor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400800" y="1847088"/>
            <a:ext cx="932688" cy="402336"/>
          </a:xfrm>
          <a:prstGeom prst="rect">
            <a:avLst/>
          </a:prstGeom>
          <a:solidFill>
            <a:srgbClr val="FFF7E7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1847088"/>
            <a:ext cx="82296" cy="402336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4808" y="1956816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2395728"/>
            <a:ext cx="1426464" cy="402336"/>
          </a:xfrm>
          <a:prstGeom prst="rect">
            <a:avLst/>
          </a:prstGeom>
          <a:solidFill>
            <a:srgbClr val="FFF7E7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2395728"/>
            <a:ext cx="82296" cy="402336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64808" y="2505456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 Research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2944368"/>
            <a:ext cx="1572768" cy="402336"/>
          </a:xfrm>
          <a:prstGeom prst="rect">
            <a:avLst/>
          </a:prstGeom>
          <a:solidFill>
            <a:srgbClr val="FFF7E7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944368"/>
            <a:ext cx="82296" cy="402336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64808" y="3054096"/>
            <a:ext cx="1444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Materials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79792" y="1847088"/>
            <a:ext cx="896112" cy="402336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79792" y="1847088"/>
            <a:ext cx="82296" cy="402336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43800" y="1956816"/>
            <a:ext cx="768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ASML / Carl Zeiss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479792" y="2395728"/>
            <a:ext cx="896112" cy="402336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79792" y="2395728"/>
            <a:ext cx="82296" cy="402336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43800" y="2505456"/>
            <a:ext cx="768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SanDisk / WD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703320" y="1901952"/>
            <a:ext cx="1691640" cy="1536192"/>
          </a:xfrm>
          <a:prstGeom prst="rect">
            <a:avLst/>
          </a:prstGeom>
          <a:solidFill>
            <a:srgbClr val="0B1F33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959352" y="219456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TSMC</a:t>
            </a:r>
            <a:endParaRPr lang="en-US" sz="2500" dirty="0"/>
          </a:p>
        </p:txBody>
      </p:sp>
      <p:sp>
        <p:nvSpPr>
          <p:cNvPr id="43" name="Text 41"/>
          <p:cNvSpPr/>
          <p:nvPr/>
        </p:nvSpPr>
        <p:spPr>
          <a:xfrm>
            <a:off x="3840480" y="263347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DC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× package × fab 的跨鏈整合樞紐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3913632" y="3035808"/>
            <a:ext cx="566928" cy="219456"/>
          </a:xfrm>
          <a:prstGeom prst="roundRect">
            <a:avLst>
              <a:gd name="adj" fmla="val 25000"/>
            </a:avLst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13632" y="3072384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0" y="3035808"/>
            <a:ext cx="566928" cy="219456"/>
          </a:xfrm>
          <a:prstGeom prst="roundRect">
            <a:avLst>
              <a:gd name="adj" fmla="val 25000"/>
            </a:avLst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3072384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0" y="2249424"/>
            <a:ext cx="384048" cy="274320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0" y="2798064"/>
            <a:ext cx="384048" cy="274320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0" y="2249424"/>
            <a:ext cx="384048" cy="274320"/>
          </a:xfrm>
          <a:prstGeom prst="chevron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0" y="2798064"/>
            <a:ext cx="384048" cy="274320"/>
          </a:xfrm>
          <a:prstGeom prst="chevron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6384" y="3584448"/>
            <a:ext cx="2148840" cy="438912"/>
          </a:xfrm>
          <a:prstGeom prst="rect">
            <a:avLst/>
          </a:prstGeom>
          <a:solidFill>
            <a:srgbClr val="EAF7F7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6384" y="3584448"/>
            <a:ext cx="82296" cy="43891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2688" y="368503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需求拉動：AI 平台、記憶體、封裝協同把產品 roadmap 往系統整合推。</a:t>
            </a:r>
            <a:endParaRPr lang="en-US" sz="910" dirty="0"/>
          </a:p>
        </p:txBody>
      </p:sp>
      <p:sp>
        <p:nvSpPr>
          <p:cNvPr id="55" name="Shape 53"/>
          <p:cNvSpPr/>
          <p:nvPr/>
        </p:nvSpPr>
        <p:spPr>
          <a:xfrm>
            <a:off x="3218688" y="3584448"/>
            <a:ext cx="2304288" cy="438912"/>
          </a:xfrm>
          <a:prstGeom prst="rect">
            <a:avLst/>
          </a:prstGeom>
          <a:solidFill>
            <a:srgbClr val="EEF3F8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18688" y="3584448"/>
            <a:ext cx="82296" cy="438912"/>
          </a:xfrm>
          <a:prstGeom prst="rect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83280" y="368503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整合樞紐：少數玩家能同時掌握客戶需求、節點節奏與封裝協同。</a:t>
            </a:r>
            <a:endParaRPr lang="en-US" sz="910" dirty="0"/>
          </a:p>
        </p:txBody>
      </p:sp>
      <p:sp>
        <p:nvSpPr>
          <p:cNvPr id="58" name="Shape 56"/>
          <p:cNvSpPr/>
          <p:nvPr/>
        </p:nvSpPr>
        <p:spPr>
          <a:xfrm>
            <a:off x="5797296" y="3584448"/>
            <a:ext cx="2414016" cy="438912"/>
          </a:xfrm>
          <a:prstGeom prst="rect">
            <a:avLst/>
          </a:prstGeom>
          <a:solidFill>
            <a:srgbClr val="FFF7E7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97296" y="3584448"/>
            <a:ext cx="82296" cy="438912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61888" y="368503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供給主導：設備 / 材料商正在鎖定未來節點 know-how 與議價權。</a:t>
            </a:r>
            <a:endParaRPr lang="en-US" sz="910" dirty="0"/>
          </a:p>
        </p:txBody>
      </p:sp>
      <p:sp>
        <p:nvSpPr>
          <p:cNvPr id="61" name="Text 59"/>
          <p:cNvSpPr/>
          <p:nvPr/>
        </p:nvSpPr>
        <p:spPr>
          <a:xfrm>
            <a:off x="502920" y="41696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管理實務意涵</a:t>
            </a:r>
            <a:endParaRPr lang="en-US" sz="1030" dirty="0"/>
          </a:p>
        </p:txBody>
      </p:sp>
      <p:sp>
        <p:nvSpPr>
          <p:cNvPr id="62" name="Text 60"/>
          <p:cNvSpPr/>
          <p:nvPr/>
        </p:nvSpPr>
        <p:spPr>
          <a:xfrm>
            <a:off x="1417320" y="4114800"/>
            <a:ext cx="690372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競爭者地圖至少拆成「產品 / 封裝 / 設備 / 材料」四層，不要只看總 patent count。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共同開發談判要把設備與材料商的 know-how/IP 邊界提早納入。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02920" y="4498848"/>
            <a:ext cx="6446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方法邊界：Google Patents page；用於相對排序、熱點辨識與策略判讀</a:t>
            </a:r>
            <a:endParaRPr lang="en-US" sz="770" dirty="0"/>
          </a:p>
        </p:txBody>
      </p:sp>
      <p:sp>
        <p:nvSpPr>
          <p:cNvPr id="64" name="Text 62"/>
          <p:cNvSpPr/>
          <p:nvPr/>
        </p:nvSpPr>
        <p:spPr>
          <a:xfrm>
            <a:off x="8165592" y="44439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spc="120" kern="0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HOTSPOT 01 · ADVANCED PACKAGING</a:t>
            </a:r>
            <a:endParaRPr lang="en-US" sz="112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封裝已從成本中心變成架構創新中心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5010912" cy="290779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49808" y="1335024"/>
          <a:ext cx="4526280" cy="22494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097280"/>
            <a:ext cx="2999232" cy="2706624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097280"/>
            <a:ext cx="82296" cy="270662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07024" y="162763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sz="1450" b="1">
                <a:solidFill>
                  <a:srgbClr val="233750"/>
                </a:solidFill>
              </a:rPr>
              <a:t>Ecosystem stack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907024" y="1636776"/>
            <a:ext cx="1938528" cy="192024"/>
          </a:xfrm>
          <a:prstGeom prst="roundRect">
            <a:avLst>
              <a:gd name="adj" fmla="val 21429"/>
            </a:avLst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  <p:txBody>
          <a:bodyPr wrap="square" anchor="ctr"/>
          <a:p>
            <a:pPr>
              <a:lnSpc>
                <a:spcPct val="108000"/>
              </a:lnSpc>
            </a:pPr>
            <a:r>
              <a:rPr sz="1250">
                <a:solidFill>
                  <a:srgbClr val="2D3746"/>
                </a:solidFill>
              </a:rPr>
              <a:t>logic</a:t>
            </a:r>
          </a:p>
        </p:txBody>
      </p:sp>
      <p:sp>
        <p:nvSpPr>
          <p:cNvPr id="10" name="Text 7"/>
          <p:cNvSpPr/>
          <p:nvPr/>
        </p:nvSpPr>
        <p:spPr>
          <a:xfrm>
            <a:off x="5907024" y="199339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07024" y="2002536"/>
            <a:ext cx="1938528" cy="192024"/>
          </a:xfrm>
          <a:prstGeom prst="roundRect">
            <a:avLst>
              <a:gd name="adj" fmla="val 21429"/>
            </a:avLst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  <p:txBody>
          <a:bodyPr wrap="square" anchor="ctr"/>
          <a:p>
            <a:pPr>
              <a:lnSpc>
                <a:spcPct val="108000"/>
              </a:lnSpc>
            </a:pPr>
            <a:r>
              <a:rPr sz="1250">
                <a:solidFill>
                  <a:srgbClr val="2D3746"/>
                </a:solidFill>
              </a:rPr>
              <a:t>memory</a:t>
            </a:r>
          </a:p>
        </p:txBody>
      </p:sp>
      <p:sp>
        <p:nvSpPr>
          <p:cNvPr id="12" name="Text 9"/>
          <p:cNvSpPr/>
          <p:nvPr/>
        </p:nvSpPr>
        <p:spPr>
          <a:xfrm>
            <a:off x="5907024" y="235915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07024" y="2368296"/>
            <a:ext cx="1938528" cy="192024"/>
          </a:xfrm>
          <a:prstGeom prst="roundRect">
            <a:avLst>
              <a:gd name="adj" fmla="val 21429"/>
            </a:avLst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  <p:txBody>
          <a:bodyPr wrap="square" anchor="ctr"/>
          <a:p>
            <a:pPr>
              <a:lnSpc>
                <a:spcPct val="108000"/>
              </a:lnSpc>
            </a:pPr>
            <a:r>
              <a:rPr sz="1250">
                <a:solidFill>
                  <a:srgbClr val="2D3746"/>
                </a:solidFill>
              </a:rPr>
              <a:t>I/O</a:t>
            </a:r>
          </a:p>
        </p:txBody>
      </p:sp>
      <p:sp>
        <p:nvSpPr>
          <p:cNvPr id="14" name="Text 11"/>
          <p:cNvSpPr/>
          <p:nvPr/>
        </p:nvSpPr>
        <p:spPr>
          <a:xfrm>
            <a:off x="5907024" y="272491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I/O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07024" y="2734056"/>
            <a:ext cx="1938528" cy="192024"/>
          </a:xfrm>
          <a:prstGeom prst="roundRect">
            <a:avLst>
              <a:gd name="adj" fmla="val 21429"/>
            </a:avLst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 wrap="square" anchor="ctr"/>
          <a:p>
            <a:pPr>
              <a:lnSpc>
                <a:spcPct val="108000"/>
              </a:lnSpc>
            </a:pPr>
            <a:r>
              <a:rPr sz="1250">
                <a:solidFill>
                  <a:srgbClr val="2D3746"/>
                </a:solidFill>
              </a:rPr>
              <a:t>advanced packaging</a:t>
            </a:r>
          </a:p>
        </p:txBody>
      </p:sp>
      <p:sp>
        <p:nvSpPr>
          <p:cNvPr id="16" name="Text 13"/>
          <p:cNvSpPr/>
          <p:nvPr/>
        </p:nvSpPr>
        <p:spPr>
          <a:xfrm>
            <a:off x="5925312" y="30906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packaging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70448" y="2962656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sz="1220">
                <a:solidFill>
                  <a:srgbClr val="505862"/>
                </a:solidFill>
              </a:rPr>
              <a:t>chiplet：效能升級路徑轉向多裸晶異質整合。</a:t>
            </a:r>
            <a:endParaRPr lang="en-US" sz="1050" dirty="0"/>
          </a:p>
          <a:p>
            <a:pPr>
              <a:lnSpc>
                <a:spcPct val="108000"/>
              </a:lnSpc>
            </a:pPr>
            <a:r>
              <a:rPr sz="1220">
                <a:solidFill>
                  <a:srgbClr val="505862"/>
                </a:solidFill>
              </a:rPr>
              <a:t>hybrid bonding：往更細 pitch、高頻寬、低延遲互連推進。</a:t>
            </a:r>
          </a:p>
          <a:p>
            <a:pPr>
              <a:lnSpc>
                <a:spcPct val="108000"/>
              </a:lnSpc>
            </a:pPr>
            <a:r>
              <a:rPr sz="1220">
                <a:solidFill>
                  <a:srgbClr val="505862"/>
                </a:solidFill>
              </a:rPr>
              <a:t>價值前移到互連 / 鍵合能力，封裝成為架構決策。</a:t>
            </a:r>
          </a:p>
        </p:txBody>
      </p:sp>
      <p:sp>
        <p:nvSpPr>
          <p:cNvPr id="18" name="Text 15"/>
          <p:cNvSpPr/>
          <p:nvPr/>
        </p:nvSpPr>
        <p:spPr>
          <a:xfrm>
            <a:off x="502920" y="42062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管理實務意涵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481328" y="4151376"/>
            <a:ext cx="69037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sz="1320">
                <a:solidFill>
                  <a:srgbClr val="505862"/>
                </a:solidFill>
              </a:rPr>
              <a:t>設立封裝架構 PM / 系統封裝架構師，避免設計、封裝、測試各自最佳化。</a:t>
            </a:r>
            <a:endParaRPr lang="en-US" sz="1070" dirty="0"/>
          </a:p>
          <a:p>
            <a:pPr>
              <a:lnSpc>
                <a:spcPct val="108000"/>
              </a:lnSpc>
            </a:pPr>
            <a:r>
              <a:rPr sz="1320">
                <a:solidFill>
                  <a:srgbClr val="505862"/>
                </a:solidFill>
              </a:rPr>
              <a:t>投資評估同步納入 KGD、對位、rework、封裝內測試，roadmap 從 die 延伸到 package platform。</a:t>
            </a:r>
          </a:p>
        </p:txBody>
      </p:sp>
      <p:sp>
        <p:nvSpPr>
          <p:cNvPr id="20" name="Text 17"/>
          <p:cNvSpPr/>
          <p:nvPr/>
        </p:nvSpPr>
        <p:spPr>
          <a:xfrm>
            <a:off x="502920" y="4498848"/>
            <a:ext cx="6446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方法邊界：Google Patents page；用於相對排序、熱點辨識與策略判讀</a:t>
            </a:r>
            <a:endParaRPr lang="en-US" sz="770" dirty="0"/>
          </a:p>
        </p:txBody>
      </p:sp>
      <p:sp>
        <p:nvSpPr>
          <p:cNvPr id="21" name="Text 18"/>
          <p:cNvSpPr/>
          <p:nvPr/>
        </p:nvSpPr>
        <p:spPr>
          <a:xfrm>
            <a:off x="8165592" y="44439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spc="120" kern="0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HOTSPOT 02 · MEMORY × COMPUTE</a:t>
            </a:r>
            <a:endParaRPr lang="en-US" sz="112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HBM 不只是記憶體議題，而是 AI 系統瓶頸的專利映射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448056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31520" y="1325880"/>
          <a:ext cx="402336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078992"/>
            <a:ext cx="338328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212080" y="1078992"/>
            <a:ext cx="82296" cy="2880360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68112" y="12984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Compute–Memory bottleneck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532120" y="17190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32120" y="175564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46520" y="1719072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75564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HBM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0" y="17190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16A6A8"/>
          </a:solidFill>
          <a:ln w="12700">
            <a:solidFill>
              <a:srgbClr val="16A6A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0" y="175564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54496" y="1764792"/>
            <a:ext cx="146304" cy="164592"/>
          </a:xfrm>
          <a:prstGeom prst="chevron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41464" y="1764792"/>
            <a:ext cx="146304" cy="164592"/>
          </a:xfrm>
          <a:prstGeom prst="chevron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0" y="2240280"/>
            <a:ext cx="26517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04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HBM 快速上升，與 AI 訓練/推論對高頻寬低延遲資料搬移需求一致。</a:t>
            </a:r>
            <a:endParaRPr lang="en-US" sz="1040" dirty="0"/>
          </a:p>
          <a:p>
            <a:pPr marL="342900" indent="-342900">
              <a:buSzPct val="100000"/>
              <a:buChar char="•"/>
            </a:pPr>
            <a:r>
              <a:rPr lang="en-US" sz="104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議題已不再只屬於 memory vendor，而是牽動 GPU、封裝、中介層、散熱、供電的系統性主題。</a:t>
            </a:r>
            <a:endParaRPr lang="en-US" sz="1040" dirty="0"/>
          </a:p>
          <a:p>
            <a:pPr marL="342900" indent="-342900">
              <a:buSzPct val="100000"/>
              <a:buChar char="•"/>
            </a:pPr>
            <a:r>
              <a:rPr lang="en-US" sz="104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CPC 中 G11C（記憶體）靠前，顯示記憶體重要性已提升到平台決勝層。</a:t>
            </a:r>
            <a:endParaRPr lang="en-US" sz="1040" dirty="0"/>
          </a:p>
        </p:txBody>
      </p:sp>
      <p:sp>
        <p:nvSpPr>
          <p:cNvPr id="18" name="Text 15"/>
          <p:cNvSpPr/>
          <p:nvPr/>
        </p:nvSpPr>
        <p:spPr>
          <a:xfrm>
            <a:off x="502920" y="4187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6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管理實務意涵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481328" y="4133088"/>
            <a:ext cx="69494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07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 memory architecture 納入平台級 KPI，而不是只看 compute die 指標。</a:t>
            </a:r>
            <a:endParaRPr lang="en-US" sz="1070" dirty="0"/>
          </a:p>
          <a:p>
            <a:pPr marL="342900" indent="-342900">
              <a:buSzPct val="100000"/>
              <a:buChar char="•"/>
            </a:pPr>
            <a:r>
              <a:rPr lang="en-US" sz="107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建立 compute / memory / package 聯合評審機制，避免局部最佳化。</a:t>
            </a:r>
            <a:endParaRPr lang="en-US" sz="1070" dirty="0"/>
          </a:p>
          <a:p>
            <a:pPr marL="342900" indent="-342900">
              <a:buSzPct val="100000"/>
              <a:buChar char="•"/>
            </a:pPr>
            <a:r>
              <a:rPr lang="en-US" sz="107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提早鎖定 HBM、interposer、散熱相關合作與授權談判窗口。</a:t>
            </a:r>
            <a:endParaRPr lang="en-US" sz="1070" dirty="0"/>
          </a:p>
        </p:txBody>
      </p:sp>
      <p:sp>
        <p:nvSpPr>
          <p:cNvPr id="20" name="Text 17"/>
          <p:cNvSpPr/>
          <p:nvPr/>
        </p:nvSpPr>
        <p:spPr>
          <a:xfrm>
            <a:off x="502920" y="4498848"/>
            <a:ext cx="6446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方法邊界：Google Patents page；用於相對排序、熱點辨識與策略判讀</a:t>
            </a:r>
            <a:endParaRPr lang="en-US" sz="770" dirty="0"/>
          </a:p>
        </p:txBody>
      </p:sp>
      <p:sp>
        <p:nvSpPr>
          <p:cNvPr id="21" name="Text 18"/>
          <p:cNvSpPr/>
          <p:nvPr/>
        </p:nvSpPr>
        <p:spPr>
          <a:xfrm>
            <a:off x="8165592" y="44439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spc="120" kern="0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HOTSPOT 03 · PROCESS / EQUIPMENT</a:t>
            </a:r>
            <a:endParaRPr lang="en-US" sz="112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即使封裝升溫，製程設備鏈仍是不可替代的底層戰場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3950208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49808" y="1316736"/>
          <a:ext cx="3493008" cy="1993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" y="3456432"/>
            <a:ext cx="3383280" cy="384048"/>
          </a:xfrm>
          <a:prstGeom prst="rect">
            <a:avLst/>
          </a:prstGeom>
          <a:solidFill>
            <a:srgbClr val="FCEFF1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6384" y="3456432"/>
            <a:ext cx="82296" cy="384048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3557016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sz="1250">
                <a:solidFill>
                  <a:srgbClr val="644850"/>
                </a:solidFill>
              </a:rPr>
              <a:t>訊號重點：先進曝光與製程設備專利量仍維持高檔，代表 fab 底盤未被替代。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4617720" y="1097280"/>
            <a:ext cx="3977640" cy="1481328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097280"/>
            <a:ext cx="82296" cy="1481328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2618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晶片量產依賴鏈</a:t>
            </a:r>
            <a:endParaRPr lang="en-US" sz="1540" dirty="0"/>
          </a:p>
        </p:txBody>
      </p:sp>
      <p:sp>
        <p:nvSpPr>
          <p:cNvPr id="12" name="Shape 9"/>
          <p:cNvSpPr/>
          <p:nvPr/>
        </p:nvSpPr>
        <p:spPr>
          <a:xfrm>
            <a:off x="4882896" y="1700784"/>
            <a:ext cx="731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82896" y="1700784"/>
            <a:ext cx="82296" cy="438912"/>
          </a:xfrm>
          <a:prstGeom prst="rect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56048" y="1819656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60136" y="1792224"/>
            <a:ext cx="164592" cy="164592"/>
          </a:xfrm>
          <a:prstGeom prst="chevron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0" y="1700784"/>
            <a:ext cx="731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0" y="1700784"/>
            <a:ext cx="82296" cy="438912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42432" y="1819656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EUV / Etch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446520" y="1792224"/>
            <a:ext cx="164592" cy="164592"/>
          </a:xfrm>
          <a:prstGeom prst="chevron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47104" y="1700784"/>
            <a:ext cx="731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47104" y="1700784"/>
            <a:ext cx="82296" cy="438912"/>
          </a:xfrm>
          <a:prstGeom prst="rect">
            <a:avLst/>
          </a:prstGeom>
          <a:solidFill>
            <a:srgbClr val="16A6A8"/>
          </a:solidFill>
          <a:ln w="12700">
            <a:solidFill>
              <a:srgbClr val="16A6A8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0256" y="1819656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HBM / Package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324344" y="1792224"/>
            <a:ext cx="164592" cy="164592"/>
          </a:xfrm>
          <a:prstGeom prst="chevron">
            <a:avLst/>
          </a:prstGeom>
          <a:solidFill>
            <a:srgbClr val="16A6A8"/>
          </a:solidFill>
          <a:ln w="12700">
            <a:solidFill>
              <a:srgbClr val="16A6A8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79792" y="1700784"/>
            <a:ext cx="84124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79792" y="1700784"/>
            <a:ext cx="82296" cy="438912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52944" y="181965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Yield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617720" y="2743200"/>
            <a:ext cx="190195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17720" y="2743200"/>
            <a:ext cx="82296" cy="1298448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  <p:txBody>
          <a:bodyPr wrap="square" anchor="ctr"/>
          <a:p>
            <a:pPr>
              <a:lnSpc>
                <a:spcPct val="108000"/>
              </a:lnSpc>
            </a:pPr>
          </a:p>
        </p:txBody>
      </p:sp>
      <p:sp>
        <p:nvSpPr>
          <p:cNvPr id="29" name="Text 26"/>
          <p:cNvSpPr/>
          <p:nvPr/>
        </p:nvSpPr>
        <p:spPr>
          <a:xfrm>
            <a:off x="4828032" y="290779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20" b="1" dirty="0">
                <a:solidFill>
                  <a:srgbClr val="3740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Fab CPC 底盤</a:t>
            </a:r>
            <a:endParaRPr lang="en-US" sz="1580" dirty="0"/>
          </a:p>
        </p:txBody>
      </p:sp>
      <p:sp>
        <p:nvSpPr>
          <p:cNvPr id="30" name="Text 27"/>
          <p:cNvSpPr/>
          <p:nvPr/>
        </p:nvSpPr>
        <p:spPr>
          <a:xfrm>
            <a:off x="4846320" y="31821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20" dirty="0">
                <a:solidFill>
                  <a:srgbClr val="374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C23C 沉積/鍍膜</a:t>
            </a:r>
            <a:endParaRPr lang="en-US" sz="980" dirty="0"/>
          </a:p>
        </p:txBody>
      </p:sp>
      <p:sp>
        <p:nvSpPr>
          <p:cNvPr id="31" name="Text 28"/>
          <p:cNvSpPr/>
          <p:nvPr/>
        </p:nvSpPr>
        <p:spPr>
          <a:xfrm>
            <a:off x="4846320" y="336499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20" dirty="0">
                <a:solidFill>
                  <a:srgbClr val="374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G03F 光刻 / 圖案轉移</a:t>
            </a:r>
            <a:endParaRPr lang="en-US" sz="980" dirty="0"/>
          </a:p>
        </p:txBody>
      </p:sp>
      <p:sp>
        <p:nvSpPr>
          <p:cNvPr id="32" name="Text 29"/>
          <p:cNvSpPr/>
          <p:nvPr/>
        </p:nvSpPr>
        <p:spPr>
          <a:xfrm>
            <a:off x="4846320" y="354787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20" dirty="0">
                <a:solidFill>
                  <a:srgbClr val="374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H01J 真空 / 電子束</a:t>
            </a:r>
            <a:endParaRPr lang="en-US" sz="980" dirty="0"/>
          </a:p>
        </p:txBody>
      </p:sp>
      <p:sp>
        <p:nvSpPr>
          <p:cNvPr id="33" name="Text 30"/>
          <p:cNvSpPr/>
          <p:nvPr/>
        </p:nvSpPr>
        <p:spPr>
          <a:xfrm>
            <a:off x="4846320" y="373075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20" dirty="0">
                <a:solidFill>
                  <a:srgbClr val="374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B82Y 奈米製程整合</a:t>
            </a:r>
            <a:endParaRPr lang="en-US" sz="980" dirty="0"/>
          </a:p>
        </p:txBody>
      </p:sp>
      <p:sp>
        <p:nvSpPr>
          <p:cNvPr id="34" name="Shape 31"/>
          <p:cNvSpPr/>
          <p:nvPr/>
        </p:nvSpPr>
        <p:spPr>
          <a:xfrm>
            <a:off x="6675120" y="2743200"/>
            <a:ext cx="1920240" cy="1298448"/>
          </a:xfrm>
          <a:prstGeom prst="rect">
            <a:avLst/>
          </a:prstGeom>
          <a:solidFill>
            <a:srgbClr val="FFF7E7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675120" y="2743200"/>
            <a:ext cx="82296" cy="1298448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  <p:txBody>
          <a:bodyPr wrap="square" anchor="ctr"/>
          <a:p>
            <a:pPr>
              <a:lnSpc>
                <a:spcPct val="108000"/>
              </a:lnSpc>
            </a:pPr>
          </a:p>
        </p:txBody>
      </p:sp>
      <p:sp>
        <p:nvSpPr>
          <p:cNvPr id="36" name="Text 33"/>
          <p:cNvSpPr/>
          <p:nvPr/>
        </p:nvSpPr>
        <p:spPr>
          <a:xfrm>
            <a:off x="6903720" y="290779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管理者雷達</a:t>
            </a:r>
            <a:endParaRPr lang="en-US" sz="1580" dirty="0"/>
          </a:p>
        </p:txBody>
      </p:sp>
      <p:sp>
        <p:nvSpPr>
          <p:cNvPr id="37" name="Shape 34"/>
          <p:cNvSpPr/>
          <p:nvPr/>
        </p:nvSpPr>
        <p:spPr>
          <a:xfrm>
            <a:off x="6876288" y="3163824"/>
            <a:ext cx="129844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876288" y="3163824"/>
            <a:ext cx="82296" cy="182880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  <p:txBody>
          <a:bodyPr wrap="square" anchor="ctr"/>
          <a:p>
            <a:pPr>
              <a:lnSpc>
                <a:spcPct val="108000"/>
              </a:lnSpc>
            </a:pPr>
          </a:p>
        </p:txBody>
      </p:sp>
      <p:sp>
        <p:nvSpPr>
          <p:cNvPr id="39" name="Text 36"/>
          <p:cNvSpPr/>
          <p:nvPr/>
        </p:nvSpPr>
        <p:spPr>
          <a:xfrm>
            <a:off x="6976872" y="3218688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節點可得性</a:t>
            </a:r>
            <a:endParaRPr lang="en-US" sz="910" dirty="0"/>
          </a:p>
        </p:txBody>
      </p:sp>
      <p:sp>
        <p:nvSpPr>
          <p:cNvPr id="40" name="Shape 37"/>
          <p:cNvSpPr/>
          <p:nvPr/>
        </p:nvSpPr>
        <p:spPr>
          <a:xfrm>
            <a:off x="6876288" y="3410712"/>
            <a:ext cx="129844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876288" y="3410712"/>
            <a:ext cx="82296" cy="182880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  <p:txBody>
          <a:bodyPr wrap="square" anchor="ctr"/>
          <a:p>
            <a:pPr>
              <a:lnSpc>
                <a:spcPct val="108000"/>
              </a:lnSpc>
            </a:pPr>
          </a:p>
        </p:txBody>
      </p:sp>
      <p:sp>
        <p:nvSpPr>
          <p:cNvPr id="42" name="Text 39"/>
          <p:cNvSpPr/>
          <p:nvPr/>
        </p:nvSpPr>
        <p:spPr>
          <a:xfrm>
            <a:off x="6976872" y="3465576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設備 / 材料風險</a:t>
            </a:r>
            <a:endParaRPr lang="en-US" sz="910" dirty="0"/>
          </a:p>
        </p:txBody>
      </p:sp>
      <p:sp>
        <p:nvSpPr>
          <p:cNvPr id="43" name="Shape 40"/>
          <p:cNvSpPr/>
          <p:nvPr/>
        </p:nvSpPr>
        <p:spPr>
          <a:xfrm>
            <a:off x="6876288" y="3657600"/>
            <a:ext cx="129844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876288" y="3657600"/>
            <a:ext cx="82296" cy="1828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 wrap="square" anchor="ctr"/>
          <a:p>
            <a:pPr>
              <a:lnSpc>
                <a:spcPct val="108000"/>
              </a:lnSpc>
            </a:pPr>
          </a:p>
        </p:txBody>
      </p:sp>
      <p:sp>
        <p:nvSpPr>
          <p:cNvPr id="45" name="Text 42"/>
          <p:cNvSpPr/>
          <p:nvPr/>
        </p:nvSpPr>
        <p:spPr>
          <a:xfrm>
            <a:off x="6976872" y="3712464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共同開發 IP 邊界</a:t>
            </a:r>
            <a:endParaRPr lang="en-US" sz="910" dirty="0"/>
          </a:p>
        </p:txBody>
      </p:sp>
      <p:sp>
        <p:nvSpPr>
          <p:cNvPr id="46" name="Text 43"/>
          <p:cNvSpPr/>
          <p:nvPr/>
        </p:nvSpPr>
        <p:spPr>
          <a:xfrm>
            <a:off x="1481328" y="4169663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sz="1320">
                <a:solidFill>
                  <a:srgbClr val="505862"/>
                </a:solidFill>
              </a:rPr>
              <a:t>產品策略邊界仍受先進製程可得性制約，不能只偏設計端思維。</a:t>
            </a:r>
            <a:endParaRPr lang="en-US" sz="1050" dirty="0"/>
          </a:p>
          <a:p>
            <a:pPr>
              <a:lnSpc>
                <a:spcPct val="108000"/>
              </a:lnSpc>
            </a:pPr>
            <a:r>
              <a:rPr sz="1320">
                <a:solidFill>
                  <a:srgbClr val="505862"/>
                </a:solidFill>
              </a:rPr>
              <a:t>依賴先進代工者，需同步管理曝光、材料、設備、地緣與共研 IP 風險。</a:t>
            </a:r>
          </a:p>
        </p:txBody>
      </p:sp>
      <p:sp>
        <p:nvSpPr>
          <p:cNvPr id="47" name="Text 44"/>
          <p:cNvSpPr/>
          <p:nvPr/>
        </p:nvSpPr>
        <p:spPr>
          <a:xfrm>
            <a:off x="1481328" y="4169664"/>
            <a:ext cx="6949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產品策略邊界其實由先進製程可得性決定，不能只偏向設計端思維。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依賴先進代工者，需同步管理曝光、材料、設備與地緣風險。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共同開發應把法務、IP、產品平台一起拉進治理機制。</a:t>
            </a:r>
            <a:endParaRPr lang="en-US" sz="1080" dirty="0"/>
          </a:p>
        </p:txBody>
      </p:sp>
      <p:sp>
        <p:nvSpPr>
          <p:cNvPr id="48" name="Text 45"/>
          <p:cNvSpPr/>
          <p:nvPr/>
        </p:nvSpPr>
        <p:spPr>
          <a:xfrm>
            <a:off x="502920" y="4498848"/>
            <a:ext cx="6446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方法邊界：Google Patents page；用於相對排序、熱點辨識與策略判讀</a:t>
            </a:r>
            <a:endParaRPr lang="en-US" sz="770" dirty="0"/>
          </a:p>
        </p:txBody>
      </p:sp>
      <p:sp>
        <p:nvSpPr>
          <p:cNvPr id="49" name="Text 46"/>
          <p:cNvSpPr/>
          <p:nvPr/>
        </p:nvSpPr>
        <p:spPr>
          <a:xfrm>
            <a:off x="8165592" y="44439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0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spc="120" kern="0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 SPACE &amp; NEXT OPPORTUNITIES</a:t>
            </a:r>
            <a:endParaRPr lang="en-US" sz="109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sz="2300" b="1">
                <a:solidFill>
                  <a:srgbClr val="233750"/>
                </a:solidFill>
              </a:rPr>
              <a:t>白區在量產化輔助與跨層治理</a:t>
            </a:r>
            <a:endParaRPr lang="en-US" sz="212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4828032" cy="279806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25296"/>
            <a:ext cx="4133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機會矩陣：先抓高可行 × 高策略價值白區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1371600" y="3127248"/>
            <a:ext cx="3621024" cy="0"/>
          </a:xfrm>
          <a:prstGeom prst="line">
            <a:avLst/>
          </a:prstGeom>
          <a:noFill/>
          <a:ln w="13970">
            <a:solidFill>
              <a:srgbClr val="D8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9504" y="1700784"/>
            <a:ext cx="0" cy="1426464"/>
          </a:xfrm>
          <a:prstGeom prst="line">
            <a:avLst/>
          </a:prstGeom>
          <a:noFill/>
          <a:ln w="1397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3346704"/>
            <a:ext cx="749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可行性 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 rot="16200000">
            <a:off x="841248" y="1755648"/>
            <a:ext cx="694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策略價值 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737360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觀察 / 佈局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173736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優先投資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" y="2871216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B8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戰術切入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39312" y="2871216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延後 / 追蹤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21024" y="1773936"/>
            <a:ext cx="120700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1024" y="1773936"/>
            <a:ext cx="82296" cy="420624"/>
          </a:xfrm>
          <a:prstGeom prst="rect">
            <a:avLst/>
          </a:prstGeom>
          <a:solidFill>
            <a:srgbClr val="8CA7BF"/>
          </a:solidFill>
          <a:ln w="12700">
            <a:solidFill>
              <a:srgbClr val="8CA7B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4176" y="18196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sz="1170">
                <a:solidFill>
                  <a:srgbClr val="233750"/>
                </a:solidFill>
              </a:rPr>
              <a:t>Yield / rework / KGD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2834640" y="1920240"/>
            <a:ext cx="115214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1920240"/>
            <a:ext cx="82296" cy="42062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07792" y="1965960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sz="1170">
                <a:solidFill>
                  <a:srgbClr val="233750"/>
                </a:solidFill>
              </a:rPr>
              <a:t>Chiplet</a:t>
            </a:r>
            <a:endParaRPr lang="en-US" sz="910" dirty="0"/>
          </a:p>
          <a:p>
            <a:pPr algn="ctr">
              <a:lnSpc>
                <a:spcPct val="108000"/>
              </a:lnSpc>
            </a:pPr>
            <a:r>
              <a:rPr sz="1170">
                <a:solidFill>
                  <a:srgbClr val="233750"/>
                </a:solidFill>
              </a:rPr>
              <a:t>協同</a:t>
            </a:r>
          </a:p>
        </p:txBody>
      </p:sp>
      <p:sp>
        <p:nvSpPr>
          <p:cNvPr id="20" name="Shape 18"/>
          <p:cNvSpPr/>
          <p:nvPr/>
        </p:nvSpPr>
        <p:spPr>
          <a:xfrm>
            <a:off x="3712463" y="2304288"/>
            <a:ext cx="11704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12463" y="2304288"/>
            <a:ext cx="82296" cy="420624"/>
          </a:xfrm>
          <a:prstGeom prst="rect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85615" y="2350008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sz="1170">
                <a:solidFill>
                  <a:srgbClr val="233750"/>
                </a:solidFill>
              </a:rPr>
              <a:t>Hybrid bonding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1408176" y="2066543"/>
            <a:ext cx="11704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08176" y="2066543"/>
            <a:ext cx="82296" cy="420624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81328" y="2112263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sz="1170">
                <a:solidFill>
                  <a:srgbClr val="233750"/>
                </a:solidFill>
              </a:rPr>
              <a:t>封裝材料 /</a:t>
            </a:r>
            <a:endParaRPr lang="en-US" sz="910" dirty="0"/>
          </a:p>
          <a:p>
            <a:pPr algn="ctr">
              <a:lnSpc>
                <a:spcPct val="108000"/>
              </a:lnSpc>
            </a:pPr>
            <a:r>
              <a:rPr sz="1170">
                <a:solidFill>
                  <a:srgbClr val="233750"/>
                </a:solidFill>
              </a:rPr>
              <a:t>interposer</a:t>
            </a:r>
          </a:p>
        </p:txBody>
      </p:sp>
      <p:sp>
        <p:nvSpPr>
          <p:cNvPr id="26" name="Shape 24"/>
          <p:cNvSpPr/>
          <p:nvPr/>
        </p:nvSpPr>
        <p:spPr>
          <a:xfrm>
            <a:off x="2907792" y="2651760"/>
            <a:ext cx="140817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07792" y="2651760"/>
            <a:ext cx="82296" cy="420624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80944" y="2697479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sz="1170">
                <a:solidFill>
                  <a:srgbClr val="233750"/>
                </a:solidFill>
              </a:rPr>
              <a:t>Backside power</a:t>
            </a:r>
            <a:endParaRPr lang="en-US" sz="910" dirty="0"/>
          </a:p>
          <a:p>
            <a:pPr algn="ctr">
              <a:lnSpc>
                <a:spcPct val="108000"/>
              </a:lnSpc>
            </a:pPr>
            <a:r>
              <a:rPr sz="1170">
                <a:solidFill>
                  <a:srgbClr val="233750"/>
                </a:solidFill>
              </a:rPr>
              <a:t>reliability</a:t>
            </a:r>
          </a:p>
        </p:txBody>
      </p:sp>
      <p:sp>
        <p:nvSpPr>
          <p:cNvPr id="29" name="Shape 27"/>
          <p:cNvSpPr/>
          <p:nvPr/>
        </p:nvSpPr>
        <p:spPr>
          <a:xfrm>
            <a:off x="1664208" y="2670048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4208" y="2670048"/>
            <a:ext cx="82296" cy="420624"/>
          </a:xfrm>
          <a:prstGeom prst="rect">
            <a:avLst/>
          </a:prstGeom>
          <a:solidFill>
            <a:srgbClr val="4BAE8D"/>
          </a:solidFill>
          <a:ln w="12700">
            <a:solidFill>
              <a:srgbClr val="4BAE8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2715768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sz="1170">
                <a:solidFill>
                  <a:srgbClr val="233750"/>
                </a:solidFill>
              </a:rPr>
              <a:t>SiC / GaN</a:t>
            </a:r>
            <a:endParaRPr lang="en-US" sz="910" dirty="0"/>
          </a:p>
          <a:p>
            <a:pPr algn="ctr">
              <a:lnSpc>
                <a:spcPct val="108000"/>
              </a:lnSpc>
            </a:pPr>
            <a:r>
              <a:rPr sz="1170">
                <a:solidFill>
                  <a:srgbClr val="233750"/>
                </a:solidFill>
              </a:rPr>
              <a:t>模組平台</a:t>
            </a:r>
          </a:p>
        </p:txBody>
      </p:sp>
      <p:sp>
        <p:nvSpPr>
          <p:cNvPr id="32" name="Shape 30"/>
          <p:cNvSpPr/>
          <p:nvPr/>
        </p:nvSpPr>
        <p:spPr>
          <a:xfrm>
            <a:off x="5541264" y="1097280"/>
            <a:ext cx="3035808" cy="279806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41264" y="1097280"/>
            <a:ext cx="82296" cy="279806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97296" y="122529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佈局節奏</a:t>
            </a:r>
            <a:endParaRPr lang="en-US" sz="1660" dirty="0"/>
          </a:p>
        </p:txBody>
      </p:sp>
      <p:sp>
        <p:nvSpPr>
          <p:cNvPr id="35" name="Shape 33"/>
          <p:cNvSpPr/>
          <p:nvPr/>
        </p:nvSpPr>
        <p:spPr>
          <a:xfrm>
            <a:off x="5705856" y="1554480"/>
            <a:ext cx="2651760" cy="530352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05856" y="1554480"/>
            <a:ext cx="82296" cy="530352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0448" y="162763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20" b="1" dirty="0">
                <a:solidFill>
                  <a:srgbClr val="374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近程 0–12M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6565392" y="16184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74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先做 yield-learning、rework / KGD、封裝材料。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705856" y="2212848"/>
            <a:ext cx="2651760" cy="530352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05856" y="2212848"/>
            <a:ext cx="82296" cy="530352"/>
          </a:xfrm>
          <a:prstGeom prst="rect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70448" y="228600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20" b="1" dirty="0">
                <a:solidFill>
                  <a:srgbClr val="374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中程 12–24M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6565392" y="22768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74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推 hybrid bonding 量產化與 backside power reliability。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705856" y="2871216"/>
            <a:ext cx="2651760" cy="530352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05856" y="2871216"/>
            <a:ext cx="82296" cy="53035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70448" y="2944368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20" b="1" dirty="0">
                <a:solidFill>
                  <a:srgbClr val="374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長程 24M+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565392" y="29352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74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布局 chiplet 系統協同與 SiC/GaN 模組平台。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5705856" y="3529584"/>
            <a:ext cx="2651760" cy="274320"/>
          </a:xfrm>
          <a:prstGeom prst="rect">
            <a:avLst/>
          </a:prstGeom>
          <a:solidFill>
            <a:srgbClr val="EAF7F7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05856" y="3529584"/>
            <a:ext cx="82296" cy="2743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0448" y="3602736"/>
            <a:ext cx="2231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20" dirty="0">
                <a:solidFill>
                  <a:srgbClr val="374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原則：先做能快落地的輔助技術。</a:t>
            </a:r>
            <a:endParaRPr lang="en-US" sz="890" dirty="0"/>
          </a:p>
        </p:txBody>
      </p:sp>
      <p:sp>
        <p:nvSpPr>
          <p:cNvPr id="50" name="Shape 48"/>
          <p:cNvSpPr/>
          <p:nvPr/>
        </p:nvSpPr>
        <p:spPr>
          <a:xfrm>
            <a:off x="658368" y="4023360"/>
            <a:ext cx="7662672" cy="274320"/>
          </a:xfrm>
          <a:prstGeom prst="rect">
            <a:avLst/>
          </a:prstGeom>
          <a:solidFill>
            <a:srgbClr val="EAF0F5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8368" y="4023360"/>
            <a:ext cx="82296" cy="2743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2960" y="4096512"/>
            <a:ext cx="7333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sz="1200">
                <a:solidFill>
                  <a:srgbClr val="37404C"/>
                </a:solidFill>
              </a:rPr>
              <a:t>管理意涵：投資組合可預留 20–30% 給量產化輔助；IP 團隊優先掃 reliability、DFT、rework、yield-learning 空隙。</a:t>
            </a:r>
            <a:endParaRPr lang="en-US" sz="910" dirty="0"/>
          </a:p>
        </p:txBody>
      </p:sp>
      <p:sp>
        <p:nvSpPr>
          <p:cNvPr id="53" name="Text 51"/>
          <p:cNvSpPr/>
          <p:nvPr/>
        </p:nvSpPr>
        <p:spPr>
          <a:xfrm>
            <a:off x="502920" y="4498848"/>
            <a:ext cx="6446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方法邊界：Google Patents page；用於相對排序、熱點辨識與策略判讀</a:t>
            </a:r>
            <a:endParaRPr lang="en-US" sz="770" dirty="0"/>
          </a:p>
        </p:txBody>
      </p:sp>
      <p:sp>
        <p:nvSpPr>
          <p:cNvPr id="54" name="Text 52"/>
          <p:cNvSpPr/>
          <p:nvPr/>
        </p:nvSpPr>
        <p:spPr>
          <a:xfrm>
            <a:off x="8165592" y="44439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0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spc="120" kern="0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OPERATING SYSTEM</a:t>
            </a:r>
            <a:endParaRPr lang="en-US" sz="112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從專利情報到技術治理：四個管理動作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621792" y="1225296"/>
            <a:ext cx="7955280" cy="1828800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1353312"/>
            <a:ext cx="7187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loop：把專利雷達直接接到 roadmap、投資組合與 NPI gate。</a:t>
            </a:r>
            <a:endParaRPr lang="en-US" sz="1090" dirty="0"/>
          </a:p>
        </p:txBody>
      </p:sp>
      <p:sp>
        <p:nvSpPr>
          <p:cNvPr id="6" name="Shape 4"/>
          <p:cNvSpPr/>
          <p:nvPr/>
        </p:nvSpPr>
        <p:spPr>
          <a:xfrm>
            <a:off x="859536" y="1719072"/>
            <a:ext cx="1481328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1719072"/>
            <a:ext cx="82296" cy="87782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84708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0F8B8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510" dirty="0"/>
          </a:p>
        </p:txBody>
      </p:sp>
      <p:sp>
        <p:nvSpPr>
          <p:cNvPr id="9" name="Text 7"/>
          <p:cNvSpPr/>
          <p:nvPr/>
        </p:nvSpPr>
        <p:spPr>
          <a:xfrm>
            <a:off x="1261872" y="182880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9264" y="212140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五大主題雷達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2395728" y="2057400"/>
            <a:ext cx="182880" cy="201168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1488" y="1719072"/>
            <a:ext cx="1481328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61488" y="1719072"/>
            <a:ext cx="82296" cy="877824"/>
          </a:xfrm>
          <a:prstGeom prst="rect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2928" y="184708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3C78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510" dirty="0"/>
          </a:p>
        </p:txBody>
      </p:sp>
      <p:sp>
        <p:nvSpPr>
          <p:cNvPr id="15" name="Text 13"/>
          <p:cNvSpPr/>
          <p:nvPr/>
        </p:nvSpPr>
        <p:spPr>
          <a:xfrm>
            <a:off x="3163824" y="182880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Prioritize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71216" y="212140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產品 / 設備 / 材料 map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297680" y="2057400"/>
            <a:ext cx="182880" cy="201168"/>
          </a:xfrm>
          <a:prstGeom prst="chevron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719072"/>
            <a:ext cx="1481328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719072"/>
            <a:ext cx="82296" cy="877824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84708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E5B8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510" dirty="0"/>
          </a:p>
        </p:txBody>
      </p:sp>
      <p:sp>
        <p:nvSpPr>
          <p:cNvPr id="21" name="Text 19"/>
          <p:cNvSpPr/>
          <p:nvPr/>
        </p:nvSpPr>
        <p:spPr>
          <a:xfrm>
            <a:off x="5065776" y="182880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73168" y="212140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核心創新 + 量產化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199632" y="2057400"/>
            <a:ext cx="182880" cy="201168"/>
          </a:xfrm>
          <a:prstGeom prst="chevron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65392" y="1719072"/>
            <a:ext cx="1481328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65392" y="1719072"/>
            <a:ext cx="82296" cy="877824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184708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D96C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510" dirty="0"/>
          </a:p>
        </p:txBody>
      </p:sp>
      <p:sp>
        <p:nvSpPr>
          <p:cNvPr id="27" name="Text 25"/>
          <p:cNvSpPr/>
          <p:nvPr/>
        </p:nvSpPr>
        <p:spPr>
          <a:xfrm>
            <a:off x="6967728" y="182880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212140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NPI gate + FTO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768096" y="3163824"/>
            <a:ext cx="22860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8096" y="3163824"/>
            <a:ext cx="82296" cy="78638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329184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337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季度</a:t>
            </a:r>
            <a:endParaRPr lang="en-US" sz="990" dirty="0"/>
          </a:p>
        </p:txBody>
      </p:sp>
      <p:sp>
        <p:nvSpPr>
          <p:cNvPr id="32" name="Text 30"/>
          <p:cNvSpPr/>
          <p:nvPr/>
        </p:nvSpPr>
        <p:spPr>
          <a:xfrm>
            <a:off x="914400" y="351129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60" dirty="0">
                <a:solidFill>
                  <a:srgbClr val="374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更新熱點與競爭者雷達。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3383280" y="3163824"/>
            <a:ext cx="22860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83280" y="3163824"/>
            <a:ext cx="82296" cy="786384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9584" y="329184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337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立項前</a:t>
            </a:r>
            <a:endParaRPr lang="en-US" sz="990" dirty="0"/>
          </a:p>
        </p:txBody>
      </p:sp>
      <p:sp>
        <p:nvSpPr>
          <p:cNvPr id="36" name="Text 34"/>
          <p:cNvSpPr/>
          <p:nvPr/>
        </p:nvSpPr>
        <p:spPr>
          <a:xfrm>
            <a:off x="3529584" y="351129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60" dirty="0">
                <a:solidFill>
                  <a:srgbClr val="374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檢查 white-space、合作與授權機會。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5998464" y="3163824"/>
            <a:ext cx="22860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98464" y="3163824"/>
            <a:ext cx="82296" cy="786384"/>
          </a:xfrm>
          <a:prstGeom prst="rect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329184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337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NPI gate</a:t>
            </a:r>
            <a:endParaRPr lang="en-US" sz="990" dirty="0"/>
          </a:p>
        </p:txBody>
      </p:sp>
      <p:sp>
        <p:nvSpPr>
          <p:cNvPr id="40" name="Text 38"/>
          <p:cNvSpPr/>
          <p:nvPr/>
        </p:nvSpPr>
        <p:spPr>
          <a:xfrm>
            <a:off x="6144768" y="351129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60" dirty="0">
                <a:solidFill>
                  <a:srgbClr val="374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納入 FTO、共研 IP、可靠性檢查。</a:t>
            </a:r>
            <a:endParaRPr lang="en-US" sz="910" dirty="0"/>
          </a:p>
        </p:txBody>
      </p:sp>
      <p:sp>
        <p:nvSpPr>
          <p:cNvPr id="41" name="Shape 39"/>
          <p:cNvSpPr/>
          <p:nvPr/>
        </p:nvSpPr>
        <p:spPr>
          <a:xfrm>
            <a:off x="658368" y="4041648"/>
            <a:ext cx="7644384" cy="310896"/>
          </a:xfrm>
          <a:prstGeom prst="rect">
            <a:avLst/>
          </a:prstGeom>
          <a:solidFill>
            <a:srgbClr val="EEF3F8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368" y="4041648"/>
            <a:ext cx="82296" cy="310896"/>
          </a:xfrm>
          <a:prstGeom prst="rect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" y="4123944"/>
            <a:ext cx="7223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sz="1280">
                <a:solidFill>
                  <a:srgbClr val="37404C"/>
                </a:solidFill>
              </a:rPr>
              <a:t>結論：成熟度關鍵不只在研發效率，而在跨層決策速度。</a:t>
            </a:r>
            <a:endParaRPr lang="en-US" sz="1010" dirty="0"/>
          </a:p>
        </p:txBody>
      </p:sp>
      <p:sp>
        <p:nvSpPr>
          <p:cNvPr id="44" name="Text 42"/>
          <p:cNvSpPr/>
          <p:nvPr/>
        </p:nvSpPr>
        <p:spPr>
          <a:xfrm>
            <a:off x="502920" y="4498848"/>
            <a:ext cx="6446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方法邊界：Google Patents page；用於相對排序、熱點辨識與策略判讀</a:t>
            </a:r>
            <a:endParaRPr lang="en-US" sz="770" dirty="0"/>
          </a:p>
        </p:txBody>
      </p:sp>
      <p:sp>
        <p:nvSpPr>
          <p:cNvPr id="45" name="Text 43"/>
          <p:cNvSpPr/>
          <p:nvPr/>
        </p:nvSpPr>
        <p:spPr>
          <a:xfrm>
            <a:off x="8165592" y="44439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0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57200"/>
            <a:ext cx="8321040" cy="3977640"/>
          </a:xfrm>
          <a:prstGeom prst="rect">
            <a:avLst/>
          </a:prstGeom>
          <a:solidFill>
            <a:srgbClr val="112B44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77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5B8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DECISIONS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8755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sz="2400" b="1">
                <a:solidFill>
                  <a:srgbClr val="FFFFFF"/>
                </a:solidFill>
              </a:rPr>
              <a:t>給管理層的三個決策：擴整合、補量產、做平台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9808" y="135331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sz="1320">
                <a:solidFill>
                  <a:srgbClr val="D2DCE8"/>
                </a:solidFill>
              </a:rPr>
              <a:t>把專利情報轉成執行板：每個決策都要有 owner、近期行動與 12–24 個月 KPI。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1737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28800"/>
            <a:ext cx="82296" cy="15544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5681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F8B8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擴整合</a:t>
            </a:r>
            <a:endParaRPr lang="en-US" sz="1740" dirty="0"/>
          </a:p>
        </p:txBody>
      </p:sp>
      <p:sp>
        <p:nvSpPr>
          <p:cNvPr id="9" name="Text 7"/>
          <p:cNvSpPr/>
          <p:nvPr/>
        </p:nvSpPr>
        <p:spPr>
          <a:xfrm>
            <a:off x="896112" y="2212848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重做跨層 roadmap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896112" y="2523744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sz="1240">
                <a:solidFill>
                  <a:srgbClr val="465260"/>
                </a:solidFill>
              </a:rPr>
              <a:t>Owner：CTO / Platform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877824" y="2816352"/>
            <a:ext cx="1481328" cy="347472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2816352"/>
            <a:ext cx="82296" cy="34747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92608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sz="1140">
                <a:solidFill>
                  <a:srgbClr val="5A6470"/>
                </a:solidFill>
              </a:rPr>
              <a:t>KPI：聯合審查率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2670048" y="1828800"/>
            <a:ext cx="1737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70048" y="1828800"/>
            <a:ext cx="82296" cy="1554480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195681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E5B8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補量產</a:t>
            </a:r>
            <a:endParaRPr lang="en-US" sz="1740" dirty="0"/>
          </a:p>
        </p:txBody>
      </p:sp>
      <p:sp>
        <p:nvSpPr>
          <p:cNvPr id="17" name="Text 15"/>
          <p:cNvSpPr/>
          <p:nvPr/>
        </p:nvSpPr>
        <p:spPr>
          <a:xfrm>
            <a:off x="2816352" y="2212848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加碼量產化輔助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2816352" y="2523744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sz="1240">
                <a:solidFill>
                  <a:srgbClr val="465260"/>
                </a:solidFill>
              </a:rPr>
              <a:t>Owner：R&amp;D / 製造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2798064" y="2816352"/>
            <a:ext cx="1481328" cy="347472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98064" y="2816352"/>
            <a:ext cx="82296" cy="347472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52928" y="292608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sz="1140">
                <a:solidFill>
                  <a:srgbClr val="5A6470"/>
                </a:solidFill>
              </a:rPr>
              <a:t>KPI：yield / reliability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590288" y="1828800"/>
            <a:ext cx="1737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90288" y="1828800"/>
            <a:ext cx="82296" cy="1554480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195681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D96C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做平台</a:t>
            </a:r>
            <a:endParaRPr lang="en-US" sz="1740" dirty="0"/>
          </a:p>
        </p:txBody>
      </p:sp>
      <p:sp>
        <p:nvSpPr>
          <p:cNvPr id="25" name="Text 23"/>
          <p:cNvSpPr/>
          <p:nvPr/>
        </p:nvSpPr>
        <p:spPr>
          <a:xfrm>
            <a:off x="4736592" y="2212848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平台合作與 IP 治理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4736592" y="2523744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sz="1240">
                <a:solidFill>
                  <a:srgbClr val="465260"/>
                </a:solidFill>
              </a:rPr>
              <a:t>Owner：BU / IP / Legal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4718304" y="2816352"/>
            <a:ext cx="1481328" cy="347472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18304" y="2816352"/>
            <a:ext cx="82296" cy="347472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92608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sz="1140">
                <a:solidFill>
                  <a:srgbClr val="5A6470"/>
                </a:solidFill>
              </a:rPr>
              <a:t>KPI：共研 / 授權 / 模組數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528816" y="1645920"/>
            <a:ext cx="1700784" cy="731520"/>
          </a:xfrm>
          <a:prstGeom prst="rect">
            <a:avLst/>
          </a:prstGeom>
          <a:solidFill>
            <a:srgbClr val="EAF0F5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28816" y="1645920"/>
            <a:ext cx="82296" cy="7315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38544" y="17373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b="1" dirty="0">
                <a:solidFill>
                  <a:srgbClr val="465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短期 0–12M</a:t>
            </a:r>
            <a:endParaRPr lang="en-US" sz="890" dirty="0"/>
          </a:p>
        </p:txBody>
      </p:sp>
      <p:sp>
        <p:nvSpPr>
          <p:cNvPr id="33" name="Text 31"/>
          <p:cNvSpPr/>
          <p:nvPr/>
        </p:nvSpPr>
        <p:spPr>
          <a:xfrm>
            <a:off x="6638544" y="186537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sz="1120"/>
              <a:t>建五大主題雷達</a:t>
            </a:r>
            <a:endParaRPr lang="en-US" sz="810" dirty="0"/>
          </a:p>
        </p:txBody>
      </p:sp>
      <p:sp>
        <p:nvSpPr>
          <p:cNvPr id="34" name="Shape 32"/>
          <p:cNvSpPr/>
          <p:nvPr/>
        </p:nvSpPr>
        <p:spPr>
          <a:xfrm>
            <a:off x="6528816" y="2450592"/>
            <a:ext cx="1700784" cy="731520"/>
          </a:xfrm>
          <a:prstGeom prst="rect">
            <a:avLst/>
          </a:prstGeom>
          <a:solidFill>
            <a:srgbClr val="EAF0F5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28816" y="2450592"/>
            <a:ext cx="82296" cy="731520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38544" y="25420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b="1" dirty="0">
                <a:solidFill>
                  <a:srgbClr val="465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中期 12–24M</a:t>
            </a:r>
            <a:endParaRPr lang="en-US" sz="890" dirty="0"/>
          </a:p>
        </p:txBody>
      </p:sp>
      <p:sp>
        <p:nvSpPr>
          <p:cNvPr id="37" name="Text 35"/>
          <p:cNvSpPr/>
          <p:nvPr/>
        </p:nvSpPr>
        <p:spPr>
          <a:xfrm>
            <a:off x="6638544" y="267004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sz="1120"/>
              <a:t>white-space 轉立項池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6528816" y="3255264"/>
            <a:ext cx="1700784" cy="731520"/>
          </a:xfrm>
          <a:prstGeom prst="rect">
            <a:avLst/>
          </a:prstGeom>
          <a:solidFill>
            <a:srgbClr val="EAF0F5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28816" y="3255264"/>
            <a:ext cx="82296" cy="731520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38544" y="334670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b="1" dirty="0">
                <a:solidFill>
                  <a:srgbClr val="465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長期 24M+</a:t>
            </a:r>
            <a:endParaRPr lang="en-US" sz="890" dirty="0"/>
          </a:p>
        </p:txBody>
      </p:sp>
      <p:sp>
        <p:nvSpPr>
          <p:cNvPr id="41" name="Text 39"/>
          <p:cNvSpPr/>
          <p:nvPr/>
        </p:nvSpPr>
        <p:spPr>
          <a:xfrm>
            <a:off x="6638544" y="3474720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sz="1120"/>
              <a:t>升級為 system / package / process 共治</a:t>
            </a:r>
            <a:endParaRPr lang="en-US" sz="810" dirty="0"/>
          </a:p>
        </p:txBody>
      </p:sp>
      <p:sp>
        <p:nvSpPr>
          <p:cNvPr id="42" name="Shape 40"/>
          <p:cNvSpPr/>
          <p:nvPr/>
        </p:nvSpPr>
        <p:spPr>
          <a:xfrm>
            <a:off x="786384" y="3566160"/>
            <a:ext cx="5742432" cy="347472"/>
          </a:xfrm>
          <a:prstGeom prst="rect">
            <a:avLst/>
          </a:prstGeom>
          <a:solidFill>
            <a:srgbClr val="163550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6384" y="3566160"/>
            <a:ext cx="82296" cy="34747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3666744"/>
            <a:ext cx="5468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sz="1240"/>
              <a:t>一句話結論：下一輪競爭比的不是單點更快，而是跨層整合、量產落地與平台治理。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731520" y="4059936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sz="1200">
                <a:solidFill>
                  <a:srgbClr val="D2DCE8"/>
                </a:solidFill>
              </a:rPr>
              <a:t>董事會版可再補多資料源交叉驗證。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02920" y="4498848"/>
            <a:ext cx="6446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D2D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方法邊界：Google Patents page；用於相對排序、熱點辨識與策略判讀</a:t>
            </a:r>
            <a:endParaRPr lang="en-US" sz="770" dirty="0"/>
          </a:p>
        </p:txBody>
      </p:sp>
      <p:sp>
        <p:nvSpPr>
          <p:cNvPr id="47" name="Text 45"/>
          <p:cNvSpPr/>
          <p:nvPr/>
        </p:nvSpPr>
        <p:spPr>
          <a:xfrm>
            <a:off x="8165592" y="44439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0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Hermes 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2021–2025 全球廣義半導體專利：技術與管理意涵</dc:title>
  <dc:subject>Semiconductor patent presentation</dc:subject>
  <dc:creator>Hermes</dc:creator>
  <cp:lastModifiedBy>Hermes</cp:lastModifiedBy>
  <cp:revision>1</cp:revision>
  <dcterms:created xsi:type="dcterms:W3CDTF">2026-04-25T06:02:47Z</dcterms:created>
  <dcterms:modified xsi:type="dcterms:W3CDTF">2026-04-25T06:02:47Z</dcterms:modified>
</cp:coreProperties>
</file>